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4.xml" ContentType="application/vnd.openxmlformats-officedocument.drawingml.chart+xml"/>
  <Override PartName="/ppt/notesSlides/notesSlide39.xml" ContentType="application/vnd.openxmlformats-officedocument.presentationml.notesSlide+xml"/>
  <Override PartName="/ppt/charts/chart5.xml" ContentType="application/vnd.openxmlformats-officedocument.drawingml.chart+xml"/>
  <Override PartName="/ppt/notesSlides/notesSlide40.xml" ContentType="application/vnd.openxmlformats-officedocument.presentationml.notesSlide+xml"/>
  <Override PartName="/ppt/charts/chart6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rts/chart7.xml" ContentType="application/vnd.openxmlformats-officedocument.drawingml.chart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rts/chart8.xml" ContentType="application/vnd.openxmlformats-officedocument.drawingml.chart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rts/chart9.xml" ContentType="application/vnd.openxmlformats-officedocument.drawingml.chart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rts/chart10.xml" ContentType="application/vnd.openxmlformats-officedocument.drawingml.chart+xml"/>
  <Override PartName="/ppt/notesSlides/notesSlide62.xml" ContentType="application/vnd.openxmlformats-officedocument.presentationml.notesSlide+xml"/>
  <Override PartName="/ppt/charts/chart11.xml" ContentType="application/vnd.openxmlformats-officedocument.drawingml.chart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BLEU Score vs. Sentence Length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RNNenc-50 (no attention)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10-19</c:v>
                </c:pt>
                <c:pt idx="1">
                  <c:v>20-29</c:v>
                </c:pt>
                <c:pt idx="2">
                  <c:v>30-39</c:v>
                </c:pt>
                <c:pt idx="3">
                  <c:v>40-49</c:v>
                </c:pt>
                <c:pt idx="4">
                  <c:v>50-59</c:v>
                </c:pt>
                <c:pt idx="5">
                  <c:v>60+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25</c:v>
                </c:pt>
                <c:pt idx="2">
                  <c:v>20</c:v>
                </c:pt>
                <c:pt idx="3">
                  <c:v>14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5D-2B4B-8A19-7D7C14E4B0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RNNsearch-50 (attention)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10-19</c:v>
                </c:pt>
                <c:pt idx="1">
                  <c:v>20-29</c:v>
                </c:pt>
                <c:pt idx="2">
                  <c:v>30-39</c:v>
                </c:pt>
                <c:pt idx="3">
                  <c:v>40-49</c:v>
                </c:pt>
                <c:pt idx="4">
                  <c:v>50-59</c:v>
                </c:pt>
                <c:pt idx="5">
                  <c:v>60+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29</c:v>
                </c:pt>
                <c:pt idx="2">
                  <c:v>29</c:v>
                </c:pt>
                <c:pt idx="3">
                  <c:v>28</c:v>
                </c:pt>
                <c:pt idx="4">
                  <c:v>27</c:v>
                </c:pt>
                <c:pt idx="5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5D-2B4B-8A19-7D7C14E4B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BLEU Score Comparison (WMT 2014 EN-FR)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RNNencdec-30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All sentences</c:v>
                </c:pt>
                <c:pt idx="1">
                  <c:v>Sentences ≤30</c:v>
                </c:pt>
                <c:pt idx="2">
                  <c:v>Sentences ≤50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13.93</c:v>
                </c:pt>
                <c:pt idx="1">
                  <c:v>21.26</c:v>
                </c:pt>
                <c:pt idx="2">
                  <c:v>17.82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0-0C49-9E98-B356927211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RNNsearch-30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All sentences</c:v>
                </c:pt>
                <c:pt idx="1">
                  <c:v>Sentences ≤30</c:v>
                </c:pt>
                <c:pt idx="2">
                  <c:v>Sentences ≤50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21.5</c:v>
                </c:pt>
                <c:pt idx="1">
                  <c:v>27.56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70-0C49-9E98-B356927211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RNNencdec-50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All sentences</c:v>
                </c:pt>
                <c:pt idx="1">
                  <c:v>Sentences ≤30</c:v>
                </c:pt>
                <c:pt idx="2">
                  <c:v>Sentences ≤50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17.82</c:v>
                </c:pt>
                <c:pt idx="1">
                  <c:v>24.95</c:v>
                </c:pt>
                <c:pt idx="2">
                  <c:v>21.53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70-0C49-9E98-B3569272111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RNNsearch-50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All sentences</c:v>
                </c:pt>
                <c:pt idx="1">
                  <c:v>Sentences ≤30</c:v>
                </c:pt>
                <c:pt idx="2">
                  <c:v>Sentences ≤50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26.75</c:v>
                </c:pt>
                <c:pt idx="1">
                  <c:v>34.159999999999997</c:v>
                </c:pt>
                <c:pt idx="2">
                  <c:v>29.36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70-0C49-9E98-B35692721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BLEU Score by Source Sentence Length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RNNencdec-50 (no attention)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32</c:v>
                </c:pt>
                <c:pt idx="2">
                  <c:v>26</c:v>
                </c:pt>
                <c:pt idx="3">
                  <c:v>19</c:v>
                </c:pt>
                <c:pt idx="4">
                  <c:v>12</c:v>
                </c:pt>
                <c:pt idx="5">
                  <c:v>7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5-3543-8C0E-5F62DC1EA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RNNsearch-50 (attention)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70+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</c:v>
                </c:pt>
                <c:pt idx="1">
                  <c:v>35</c:v>
                </c:pt>
                <c:pt idx="2">
                  <c:v>33</c:v>
                </c:pt>
                <c:pt idx="3">
                  <c:v>31</c:v>
                </c:pt>
                <c:pt idx="4">
                  <c:v>29</c:v>
                </c:pt>
                <c:pt idx="5">
                  <c:v>27</c:v>
                </c:pt>
                <c:pt idx="6">
                  <c:v>25</c:v>
                </c:pt>
                <c:pt idx="7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B5-3543-8C0E-5F62DC1EA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Learning Rate Over Training Steps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Learning Rate</c:v>
                </c:pt>
              </c:strCache>
            </c:strRef>
          </c:tx>
          <c:spPr>
            <a:ln w="38100" cap="flat">
              <a:solidFill>
                <a:srgbClr val="FFB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1K</c:v>
                </c:pt>
                <c:pt idx="2">
                  <c:v>2K</c:v>
                </c:pt>
                <c:pt idx="3">
                  <c:v>4K</c:v>
                </c:pt>
                <c:pt idx="4">
                  <c:v>8K</c:v>
                </c:pt>
                <c:pt idx="5">
                  <c:v>16K</c:v>
                </c:pt>
                <c:pt idx="6">
                  <c:v>32K</c:v>
                </c:pt>
                <c:pt idx="7">
                  <c:v>64K</c:v>
                </c:pt>
                <c:pt idx="8">
                  <c:v>100K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2.9999999999999997E-4</c:v>
                </c:pt>
                <c:pt idx="2">
                  <c:v>5.0000000000000001E-4</c:v>
                </c:pt>
                <c:pt idx="3">
                  <c:v>6.9999999999999999E-4</c:v>
                </c:pt>
                <c:pt idx="4">
                  <c:v>5.0000000000000001E-4</c:v>
                </c:pt>
                <c:pt idx="5">
                  <c:v>3.5E-4</c:v>
                </c:pt>
                <c:pt idx="6">
                  <c:v>2.5000000000000001E-4</c:v>
                </c:pt>
                <c:pt idx="7">
                  <c:v>1.8000000000000001E-4</c:v>
                </c:pt>
                <c:pt idx="8">
                  <c:v>1.3999999999999999E-4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B70-A64B-BC09-86DB1CE56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WMT 2014 English-German BLEU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EN-DE BLEU</c:v>
                </c:pt>
              </c:strCache>
            </c:strRef>
          </c:tx>
          <c:spPr>
            <a:solidFill>
              <a:srgbClr val="3949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7A-4644-9906-0C44526787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77A-4644-9906-0C44526787E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77A-4644-9906-0C44526787E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77A-4644-9906-0C44526787E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77A-4644-9906-0C44526787E9}"/>
              </c:ext>
            </c:extLst>
          </c:dPt>
          <c:dPt>
            <c:idx val="5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77A-4644-9906-0C44526787E9}"/>
              </c:ext>
            </c:extLst>
          </c:dPt>
          <c:dPt>
            <c:idx val="6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77A-4644-9906-0C44526787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GNMT+RL</c:v>
                </c:pt>
                <c:pt idx="1">
                  <c:v>ConvS2S</c:v>
                </c:pt>
                <c:pt idx="2">
                  <c:v>MoE</c:v>
                </c:pt>
                <c:pt idx="3">
                  <c:v>ConvS2S Ens</c:v>
                </c:pt>
                <c:pt idx="4">
                  <c:v>GNMT Ens</c:v>
                </c:pt>
                <c:pt idx="5">
                  <c:v>Transformer
(base)</c:v>
                </c:pt>
                <c:pt idx="6">
                  <c:v>Transformer
(big)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24.6</c:v>
                </c:pt>
                <c:pt idx="1">
                  <c:v>25.16</c:v>
                </c:pt>
                <c:pt idx="2">
                  <c:v>26.03</c:v>
                </c:pt>
                <c:pt idx="3">
                  <c:v>26.36</c:v>
                </c:pt>
                <c:pt idx="4">
                  <c:v>26.3</c:v>
                </c:pt>
                <c:pt idx="5">
                  <c:v>27.3</c:v>
                </c:pt>
                <c:pt idx="6">
                  <c:v>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77A-4644-9906-0C44526787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Training FLOPs (×10¹⁸) — Lower is Better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FLOPs (×10¹⁸)</c:v>
                </c:pt>
              </c:strCache>
            </c:strRef>
          </c:tx>
          <c:spPr>
            <a:solidFill>
              <a:srgbClr val="3949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3D-4346-839C-E6F742BA5D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A3D-4346-839C-E6F742BA5D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A3D-4346-839C-E6F742BA5D21}"/>
              </c:ext>
            </c:extLst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3D-4346-839C-E6F742BA5D21}"/>
              </c:ext>
            </c:extLst>
          </c:dPt>
          <c:dPt>
            <c:idx val="4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3D-4346-839C-E6F742BA5D21}"/>
              </c:ext>
            </c:extLst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3D-4346-839C-E6F742BA5D21}"/>
              </c:ext>
            </c:extLst>
          </c:dPt>
          <c:dPt>
            <c:idx val="6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A3D-4346-839C-E6F742BA5D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GNMT+RL</c:v>
                </c:pt>
                <c:pt idx="1">
                  <c:v>MoE</c:v>
                </c:pt>
                <c:pt idx="2">
                  <c:v>ConvS2S</c:v>
                </c:pt>
                <c:pt idx="3">
                  <c:v>Transformer
base</c:v>
                </c:pt>
                <c:pt idx="4">
                  <c:v>Transformer
big</c:v>
                </c:pt>
                <c:pt idx="5">
                  <c:v>GNMT Ens</c:v>
                </c:pt>
                <c:pt idx="6">
                  <c:v>ConvS2S
Ens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20</c:v>
                </c:pt>
                <c:pt idx="2">
                  <c:v>9.6</c:v>
                </c:pt>
                <c:pt idx="3">
                  <c:v>3.3</c:v>
                </c:pt>
                <c:pt idx="4">
                  <c:v>23</c:v>
                </c:pt>
                <c:pt idx="5">
                  <c:v>180</c:v>
                </c:pt>
                <c:pt idx="6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A3D-4346-839C-E6F742BA5D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BLEU vs. Sentence Length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RNNenc-50</c:v>
                </c:pt>
              </c:strCache>
            </c:strRef>
          </c:tx>
          <c:spPr>
            <a:ln w="3175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19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37-394E-BA71-5268273B26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RNNsearch-50</c:v>
                </c:pt>
              </c:strCache>
            </c:strRef>
          </c:tx>
          <c:spPr>
            <a:ln w="31750" cap="flat">
              <a:solidFill>
                <a:srgbClr val="0069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695C"/>
              </a:solidFill>
              <a:ln w="9525" cap="flat">
                <a:solidFill>
                  <a:srgbClr val="00695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24</c:v>
                </c:pt>
                <c:pt idx="2">
                  <c:v>23</c:v>
                </c:pt>
                <c:pt idx="3">
                  <c:v>22</c:v>
                </c:pt>
                <c:pt idx="4">
                  <c:v>21</c:v>
                </c:pt>
                <c:pt idx="5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37-394E-BA71-5268273B2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Progressive BLEU Improvements (newstest2014)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CFD8D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41-644E-9995-22D1153862E6}"/>
              </c:ext>
            </c:extLst>
          </c:dPt>
          <c:dPt>
            <c:idx val="1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41-644E-9995-22D1153862E6}"/>
              </c:ext>
            </c:extLst>
          </c:dPt>
          <c:dPt>
            <c:idx val="2"/>
            <c:invertIfNegative val="0"/>
            <c:bubble3D val="0"/>
            <c:spPr>
              <a:solidFill>
                <a:srgbClr val="7890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41-644E-9995-22D1153862E6}"/>
              </c:ext>
            </c:extLst>
          </c:dPt>
          <c:dPt>
            <c:idx val="3"/>
            <c:invertIfNegative val="0"/>
            <c:bubble3D val="0"/>
            <c:spPr>
              <a:solidFill>
                <a:srgbClr val="26A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41-644E-9995-22D1153862E6}"/>
              </c:ext>
            </c:extLst>
          </c:dPt>
          <c:dPt>
            <c:idx val="4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C41-644E-9995-22D1153862E6}"/>
              </c:ext>
            </c:extLst>
          </c:dPt>
          <c:dPt>
            <c:idx val="5"/>
            <c:invertIfNegative val="0"/>
            <c:bubble3D val="0"/>
            <c:spPr>
              <a:solidFill>
                <a:srgbClr val="006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C41-644E-9995-22D1153862E6}"/>
              </c:ext>
            </c:extLst>
          </c:dPt>
          <c:dPt>
            <c:idx val="6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C41-644E-9995-22D1153862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+ reverse</c:v>
                </c:pt>
                <c:pt idx="2">
                  <c:v>+ dropout</c:v>
                </c:pt>
                <c:pt idx="3">
                  <c:v>+ global
attention</c:v>
                </c:pt>
                <c:pt idx="4">
                  <c:v>+ input
feeding</c:v>
                </c:pt>
                <c:pt idx="5">
                  <c:v>+ local-p
attention</c:v>
                </c:pt>
                <c:pt idx="6">
                  <c:v>Ensemble
8 models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11.3</c:v>
                </c:pt>
                <c:pt idx="1">
                  <c:v>12.6</c:v>
                </c:pt>
                <c:pt idx="2">
                  <c:v>14</c:v>
                </c:pt>
                <c:pt idx="3">
                  <c:v>16.8</c:v>
                </c:pt>
                <c:pt idx="4">
                  <c:v>18.100000000000001</c:v>
                </c:pt>
                <c:pt idx="5">
                  <c:v>19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C41-644E-9995-22D1153862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WMT'15 EN-DE (newstest2015, NIST BLEU)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NIST BLEU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44-0244-AF48-0EE269309E5D}"/>
              </c:ext>
            </c:extLst>
          </c:dPt>
          <c:dPt>
            <c:idx val="1"/>
            <c:invertIfNegative val="0"/>
            <c:bubble3D val="0"/>
            <c:spPr>
              <a:solidFill>
                <a:srgbClr val="006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44-0244-AF48-0EE269309E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NMT+5gram
rerank</c:v>
                </c:pt>
                <c:pt idx="1">
                  <c:v>Our ensemble
8 models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24.9</c:v>
                </c:pt>
                <c:pt idx="1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44-0244-AF48-0EE269309E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BLEU vs. Sentence Length Bucket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Attention (BLEU 13.9)</c:v>
                </c:pt>
              </c:strCache>
            </c:strRef>
          </c:tx>
          <c:spPr>
            <a:ln w="31750" cap="flat">
              <a:solidFill>
                <a:srgbClr val="B7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71C1C"/>
              </a:solidFill>
              <a:ln w="9525" cap="flat">
                <a:solidFill>
                  <a:srgbClr val="B71C1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&lt;10</c:v>
                </c:pt>
                <c:pt idx="1">
                  <c:v>10-20</c:v>
                </c:pt>
                <c:pt idx="2">
                  <c:v>20-30</c:v>
                </c:pt>
                <c:pt idx="3">
                  <c:v>30-40</c:v>
                </c:pt>
                <c:pt idx="4">
                  <c:v>40-50</c:v>
                </c:pt>
                <c:pt idx="5">
                  <c:v>50-60</c:v>
                </c:pt>
                <c:pt idx="6">
                  <c:v>60+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11</c:v>
                </c:pt>
                <c:pt idx="4">
                  <c:v>9</c:v>
                </c:pt>
                <c:pt idx="5">
                  <c:v>7</c:v>
                </c:pt>
                <c:pt idx="6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C9-EE4D-9329-717EB58796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Local-p (BLEU 20.9)</c:v>
                </c:pt>
              </c:strCache>
            </c:strRef>
          </c:tx>
          <c:spPr>
            <a:ln w="31750" cap="flat">
              <a:solidFill>
                <a:srgbClr val="0069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695C"/>
              </a:solidFill>
              <a:ln w="9525" cap="flat">
                <a:solidFill>
                  <a:srgbClr val="00695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&lt;10</c:v>
                </c:pt>
                <c:pt idx="1">
                  <c:v>10-20</c:v>
                </c:pt>
                <c:pt idx="2">
                  <c:v>20-30</c:v>
                </c:pt>
                <c:pt idx="3">
                  <c:v>30-40</c:v>
                </c:pt>
                <c:pt idx="4">
                  <c:v>40-50</c:v>
                </c:pt>
                <c:pt idx="5">
                  <c:v>50-60</c:v>
                </c:pt>
                <c:pt idx="6">
                  <c:v>60+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</c:v>
                </c:pt>
                <c:pt idx="1">
                  <c:v>20</c:v>
                </c:pt>
                <c:pt idx="2">
                  <c:v>20</c:v>
                </c:pt>
                <c:pt idx="3">
                  <c:v>19</c:v>
                </c:pt>
                <c:pt idx="4">
                  <c:v>19</c:v>
                </c:pt>
                <c:pt idx="5">
                  <c:v>18</c:v>
                </c:pt>
                <c:pt idx="6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C9-EE4D-9329-717EB58796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 System (BLEU 23.0)</c:v>
                </c:pt>
              </c:strCache>
            </c:strRef>
          </c:tx>
          <c:spPr>
            <a:ln w="31750" cap="flat">
              <a:solidFill>
                <a:srgbClr val="1A2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37E"/>
              </a:solidFill>
              <a:ln w="9525" cap="flat">
                <a:solidFill>
                  <a:srgbClr val="1A237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&lt;10</c:v>
                </c:pt>
                <c:pt idx="1">
                  <c:v>10-20</c:v>
                </c:pt>
                <c:pt idx="2">
                  <c:v>20-30</c:v>
                </c:pt>
                <c:pt idx="3">
                  <c:v>30-40</c:v>
                </c:pt>
                <c:pt idx="4">
                  <c:v>40-50</c:v>
                </c:pt>
                <c:pt idx="5">
                  <c:v>50-60</c:v>
                </c:pt>
                <c:pt idx="6">
                  <c:v>60+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</c:v>
                </c:pt>
                <c:pt idx="1">
                  <c:v>23</c:v>
                </c:pt>
                <c:pt idx="2">
                  <c:v>22</c:v>
                </c:pt>
                <c:pt idx="3">
                  <c:v>22</c:v>
                </c:pt>
                <c:pt idx="4">
                  <c:v>21</c:v>
                </c:pt>
                <c:pt idx="5">
                  <c:v>21</c:v>
                </c:pt>
                <c:pt idx="6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C9-EE4D-9329-717EB5879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Alignment Error Rate (AER) — WMT EN-DE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 (lower is better)</c:v>
                </c:pt>
              </c:strCache>
            </c:strRef>
          </c:tx>
          <c:spPr>
            <a:solidFill>
              <a:srgbClr val="3747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97-404A-A2E9-DFB05FA4FBF4}"/>
              </c:ext>
            </c:extLst>
          </c:dPt>
          <c:dPt>
            <c:idx val="1"/>
            <c:invertIfNegative val="0"/>
            <c:bubble3D val="0"/>
            <c:spPr>
              <a:solidFill>
                <a:srgbClr val="006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97-404A-A2E9-DFB05FA4FBF4}"/>
              </c:ext>
            </c:extLst>
          </c:dPt>
          <c:dPt>
            <c:idx val="2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97-404A-A2E9-DFB05FA4FBF4}"/>
              </c:ext>
            </c:extLst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97-404A-A2E9-DFB05FA4FBF4}"/>
              </c:ext>
            </c:extLst>
          </c:dPt>
          <c:dPt>
            <c:idx val="4"/>
            <c:invertIfNegative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97-404A-A2E9-DFB05FA4FB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Berkeley
Aligner</c:v>
                </c:pt>
                <c:pt idx="1">
                  <c:v>local-m
(general)</c:v>
                </c:pt>
                <c:pt idx="2">
                  <c:v>Ensemble</c:v>
                </c:pt>
                <c:pt idx="3">
                  <c:v>local-p
(general)</c:v>
                </c:pt>
                <c:pt idx="4">
                  <c:v>global
(location)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0.34</c:v>
                </c:pt>
                <c:pt idx="2">
                  <c:v>0.34</c:v>
                </c:pt>
                <c:pt idx="3">
                  <c:v>0.36</c:v>
                </c:pt>
                <c:pt idx="4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97-404A-A2E9-DFB05FA4FB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84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2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23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2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66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96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61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29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81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112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75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008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58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920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651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085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952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565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750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65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927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455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095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182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028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051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78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21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759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791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180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234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6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706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259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045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683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384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7645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3668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095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0889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01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820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9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09728" cy="2971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MACHINE TRANSLATION 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8549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LEARNING TO ALIGN AND TRANSLATE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paper that introduced the attention mechanism to NMT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Dzmitry Bahdanau  ·  KyungHyun Cho  ·  Yoshua Bengio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8549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Montréal  ·  ICLR 2015  ·  arXiv:1409.0473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069080"/>
            <a:ext cx="8549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– Advanced NLP &amp; Neural Machine Translation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PAPER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2103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of AI's most-cited papers)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210312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at ICLR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Transformers existed)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21031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NMT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210312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76656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BERT, GPT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 modern LLMs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859536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3375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compressing an entire sentence into one fixed vector, let the decoder selectively focus on different parts of the source sentence at each decoding step.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96012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02412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NMT — encoder-decoder 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176479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Problem — fixed-length vector failure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" y="256946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63347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dynamic context vectors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" y="33741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43814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Model — the attention function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4178808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315968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24281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Encoder — capturing context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30952" y="96012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097280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102412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 — complete derivation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30952" y="176479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1901952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76672" y="182880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 — WMT EN-FR setup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30952" y="256946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2706624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263347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— BLEU score improvements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30952" y="33741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3511296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76672" y="343814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Analysis — alignment visualizations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330952" y="4178808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92040" y="4315968"/>
            <a:ext cx="347472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424281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Sentences — robustness analysis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NMT: ENCODER-DECODER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47472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42416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(RNN / LSTM / GRU)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914400" cy="50292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914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91440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08760" y="1463040"/>
            <a:ext cx="914400" cy="50292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1481328"/>
            <a:ext cx="914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2057400"/>
            <a:ext cx="91440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207568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65960" y="1463040"/>
            <a:ext cx="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0" y="1463040"/>
            <a:ext cx="914400" cy="50292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1481328"/>
            <a:ext cx="914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2057400"/>
            <a:ext cx="91440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207568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1463040"/>
            <a:ext cx="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69080" y="1691640"/>
            <a:ext cx="1005840" cy="64008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87368" y="1709928"/>
            <a:ext cx="9692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731520" cy="0"/>
          </a:xfrm>
          <a:prstGeom prst="line">
            <a:avLst/>
          </a:prstGeom>
          <a:noFill/>
          <a:ln w="317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74920" y="2011680"/>
            <a:ext cx="777240" cy="0"/>
          </a:xfrm>
          <a:prstGeom prst="line">
            <a:avLst/>
          </a:prstGeom>
          <a:noFill/>
          <a:ln w="317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57800" y="1024128"/>
            <a:ext cx="347472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76088" y="1042416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 (RNN / LSTM / GRU)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1463040"/>
            <a:ext cx="960120" cy="502920"/>
          </a:xfrm>
          <a:prstGeom prst="rect">
            <a:avLst/>
          </a:prstGeom>
          <a:solidFill>
            <a:srgbClr val="D4877E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1481328"/>
            <a:ext cx="960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49240" y="2057400"/>
            <a:ext cx="9601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207568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1463040"/>
            <a:ext cx="960120" cy="502920"/>
          </a:xfrm>
          <a:prstGeom prst="rect">
            <a:avLst/>
          </a:prstGeom>
          <a:solidFill>
            <a:srgbClr val="D4877E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1481328"/>
            <a:ext cx="960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2057400"/>
            <a:ext cx="9601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07568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43800" y="1463040"/>
            <a:ext cx="960120" cy="502920"/>
          </a:xfrm>
          <a:prstGeom prst="rect">
            <a:avLst/>
          </a:prstGeom>
          <a:solidFill>
            <a:srgbClr val="D4877E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43800" y="1481328"/>
            <a:ext cx="9601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43800" y="2057400"/>
            <a:ext cx="9601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43800" y="207568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401568"/>
            <a:ext cx="859536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341985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p(y₁,...,yT | x₁,...,xT')  =  ∏ₜ p(yₜ | y₁,...,yₜ₋₁, c)     c = q(h₁, h₂,..., hT')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2D5D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4206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LIMITATION: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77440" y="42062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source sentence must be encoded into a single fixed-length vector c. This becomes increasingly difficult as sentence length grows, creating an information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BOTTLENECK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389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96012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937760" y="960120"/>
            <a:ext cx="73152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65776" y="10149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56832" y="1014984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RNN sequences, early words are 'forgotten' as gradients diminish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170078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1700784"/>
            <a:ext cx="73152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65776" y="17556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Compression: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56832" y="175564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 information is forced into a single fixed-size vector regardless of content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44144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937760" y="2441448"/>
            <a:ext cx="73152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65776" y="24963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Bottleneck: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6832" y="2496312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has no direct access to individual source words — only the summary vector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318211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37760" y="3182112"/>
            <a:ext cx="73152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65776" y="323697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Fails: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56832" y="3236976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dependencies are lost; complex sentence structures cannot be captured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3931920"/>
            <a:ext cx="393192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74920" y="3977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potential issue with this encoder-decoder approach is that a neural network needs to be able to compress all the necessary information of a source sentence into a fixed-length vector."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SOLUTION: ALIGN AND TRANSLATE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2D5D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FIXED CONTEXT VECTOR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Encoder reads entire source sentence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Compresses to one fixed vector 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4140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Decoder uses same c for every output word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8895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Information capacity is fixed regardless of sentence length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Long sentences cause catastrophic forgetting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8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DYNAMIC CONTEXT VECTORS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Encoder produces hidden states h₁, h₂, ..., hT'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19385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decoder step computes a UNIQUE context cᵢ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24140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cᵢ is a weighted sum of ALL encoder hidden states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83480" y="28895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Weights (attentions) reflect importance of each source word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33649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learns to ALIGN source and target words jointly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2468880"/>
            <a:ext cx="45720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MECHANISM: STEP-BY-STEP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3891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alignment scores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27432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987552"/>
            <a:ext cx="270662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eᵢⱼ = a(sᵢ₋₁, hⱼ)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987552"/>
            <a:ext cx="2697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how well source position j matches target position i, using alignment model a(·,·)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8595360" cy="59436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43891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0934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1664208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with Softmax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664208"/>
            <a:ext cx="27432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1664208"/>
            <a:ext cx="270662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αᵢⱼ = exp(eᵢⱼ) / Σₖ exp(eᵢₖ)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664208"/>
            <a:ext cx="2697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scores to a probability distribution over all source positions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43891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2340864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context vector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340864"/>
            <a:ext cx="27432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340864"/>
            <a:ext cx="270662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 = Σⱼ αᵢⱼ hⱼ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2340864"/>
            <a:ext cx="2697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encoder hidden states — the soft 'focus' on source words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62656"/>
            <a:ext cx="8595360" cy="59436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962656"/>
            <a:ext cx="43891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96265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" y="3017520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decoder state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3017520"/>
            <a:ext cx="27432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3017520"/>
            <a:ext cx="270662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sᵢ = f(sᵢ₋₁, yᵢ₋₁, cᵢ)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017520"/>
            <a:ext cx="2697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RNN state depends on previous state, previous output, and context vector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63931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639312"/>
            <a:ext cx="43891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63931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77240" y="3694176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output word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3694176"/>
            <a:ext cx="27432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10128" y="3694176"/>
            <a:ext cx="270662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p(yᵢ|·) = g(sᵢ, yᵢ₋₁, cᵢ)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80760" y="3694176"/>
            <a:ext cx="2697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distribution conditioned on decoder state and dynamic context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MODEL: a(sᵢ₋₁, hⱼ)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a(sᵢ₋₁, hⱼ)  =  vₐᵀ · tanh(Wₐ sᵢ₋₁  +  Uₐ hⱼ)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single-layer feedforward neural network jointly trained with the rest of the NMT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777240" cy="5303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sᵢ₋₁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386584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decoder hidden state — what has been translated so far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777240" cy="530352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95351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008376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hidden state at position j — representation of source word j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575304"/>
            <a:ext cx="777240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575304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Wₐ, Uₐ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630168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weight matrices that project decoder and encoder states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777240" cy="530352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vₐᵀ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7568" y="2386584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weight vector that produces a scalar score from the hidden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53512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953512"/>
            <a:ext cx="777240" cy="530352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95351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tanh(·)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87568" y="3008376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activation enabling the model to capture complex interactions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575304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3575304"/>
            <a:ext cx="77724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575304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87568" y="3630168"/>
            <a:ext cx="3447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scalar — the 'energy' or raw alignment score before softmax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ENCODER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D487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50976"/>
            <a:ext cx="84490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RNNs process sequences left-to-right. A BiRNN reads the sentence in BOTH directions, giving each word context from both past and future tokens.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6304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46304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→h1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4630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←h1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468880"/>
            <a:ext cx="457200" cy="0"/>
          </a:xfrm>
          <a:prstGeom prst="line">
            <a:avLst/>
          </a:prstGeom>
          <a:noFill/>
          <a:ln w="254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68880" y="1645920"/>
            <a:ext cx="146304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1664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2240280"/>
            <a:ext cx="146304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2258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→h2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2788920"/>
            <a:ext cx="14630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2807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←h2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2468880"/>
            <a:ext cx="457200" cy="0"/>
          </a:xfrm>
          <a:prstGeom prst="line">
            <a:avLst/>
          </a:prstGeom>
          <a:noFill/>
          <a:ln w="254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68880" y="3017520"/>
            <a:ext cx="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1645920"/>
            <a:ext cx="146304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0" y="1664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2240280"/>
            <a:ext cx="146304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2258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→h3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2788920"/>
            <a:ext cx="14630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0" y="2807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←h3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0" y="2468880"/>
            <a:ext cx="457200" cy="0"/>
          </a:xfrm>
          <a:prstGeom prst="line">
            <a:avLst/>
          </a:prstGeom>
          <a:noFill/>
          <a:ln w="254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89120" y="3017520"/>
            <a:ext cx="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1645920"/>
            <a:ext cx="146304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1664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2240280"/>
            <a:ext cx="146304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2258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→h4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2788920"/>
            <a:ext cx="14630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28072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←h4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3913632"/>
            <a:ext cx="859536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3931920"/>
            <a:ext cx="85039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hⱼ = [→hⱼ ; ←hⱼ]     Concatenate forward and backward hidden states → 2n-dimensional annotation for each word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vs. HARD ALIGNMENT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ALIGNMENT (Traditional)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3749040" cy="411480"/>
          </a:xfrm>
          <a:prstGeom prst="rect">
            <a:avLst/>
          </a:prstGeom>
          <a:solidFill>
            <a:srgbClr val="F2D5D2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word maps to exactly ONE source word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75104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hard 1:1 or 1:N mappings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3749040" cy="411480"/>
          </a:xfrm>
          <a:prstGeom prst="rect">
            <a:avLst/>
          </a:prstGeom>
          <a:solidFill>
            <a:srgbClr val="F2D5D2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487168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paraphrases or different language structures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980944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separate alignment step (e.g. GIZA++)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3749040" cy="411480"/>
          </a:xfrm>
          <a:prstGeom prst="rect">
            <a:avLst/>
          </a:prstGeom>
          <a:solidFill>
            <a:srgbClr val="F2D5D2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474720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differentiable — cannot be trained end-to-end with NMT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ALIGNMENT (Bahdanau)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481328"/>
            <a:ext cx="3749040" cy="41148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1499616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word attends to ALL source words simultaneously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1975104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47488" y="1993392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αᵢⱼ form a soft probability distribution over source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2468880"/>
            <a:ext cx="3749040" cy="41148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47488" y="2487168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many-to-many relationships naturally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2962656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2980944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trained with the NMT model end-to-end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83480" y="3456432"/>
            <a:ext cx="3749040" cy="41148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47488" y="3474720"/>
            <a:ext cx="36210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— gradients flow through attention weights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343400"/>
            <a:ext cx="8449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weights can be inspected to understand WHAT the model is attending to — providing interpretable alignment for free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MATHEMATICAL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566928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6012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(BiRNN)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9152" y="103327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hⱼ = [→hⱼ ; ←hⱼ]    →hⱼ = f(→hⱼ₋₁, xⱼ)    ←hⱼ = f(←hⱼ₊₁, xⱼ)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201168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6002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9152" y="167335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eᵢⱼ = vₐᵀ tanh(Wₐ sᵢ₋₁ + Uₐ hⱼ)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2011680" cy="56692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24028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9152" y="231343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αᵢⱼ = exp(eᵢⱼ) / Σₖ₌₁ᵀˣ exp(eᵢₖ)    ← softmax normalization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01168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288036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59152" y="295351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 = Σⱼ₌₁ᵀˣ αᵢⱼ hⱼ    ← weighted sum of encoder states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2011680" cy="566928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35204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59152" y="359359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sᵢ = f(sᵢ₋₁, yᵢ₋₁, cᵢ)    ← GRU with context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2011680" cy="566928"/>
          </a:xfrm>
          <a:prstGeom prst="rect">
            <a:avLst/>
          </a:prstGeom>
          <a:solidFill>
            <a:srgbClr val="C0635A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416052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Probability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59152" y="4233672"/>
            <a:ext cx="6364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p(yᵢ | y₁,...,yᵢ₋₁, x) = g(yᵢ₋₁, sᵢ, cᵢ)    ← deep output layer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4320" y="4846320"/>
            <a:ext cx="8595360" cy="457200"/>
          </a:xfrm>
          <a:prstGeom prst="rect">
            <a:avLst/>
          </a:prstGeom>
          <a:solidFill>
            <a:srgbClr val="F2D5D2"/>
          </a:solidFill>
          <a:ln w="12700">
            <a:solidFill>
              <a:srgbClr val="D487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4873752"/>
            <a:ext cx="8449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(Wₐ, Uₐ, vₐ, encoder weights, decoder weights) are trained jointly by maximizing the log-likelihood of the training corpus.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50292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WMT 2014 English-French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527048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 million word pairs (bilingual corpora)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039112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Vocabularies limited to 30,000 most-frequent words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32888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551176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words → [UNK]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44952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63240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longer than 50 words excluded during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57016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575304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newstest2012 + newstest2013 → validation 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4087368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newstest2014 → test set (3003 sentence pairs)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2062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9326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(RNNsearch)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1508760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47488" y="1527048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Bidirectional GRU with 1000 hidden units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020824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47488" y="2039112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GRU with 1000 hidden units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532888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2551176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model: single-layer feedforward network with 1000 units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044952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47488" y="3063240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 620-dimensional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557016"/>
            <a:ext cx="3931920" cy="429768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47488" y="3575304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Adadelta optimizer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406908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7488" y="4087368"/>
            <a:ext cx="38039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size: 80 sentence pairs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919472"/>
            <a:ext cx="8595360" cy="4297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937760"/>
            <a:ext cx="84490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 trained: RNNencdec (baseline, no attention) and RNNsearch (attention model) with sequence lengths 30 and 50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RESULTS: ENGLISH-FRENCH BLEU SCORES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60120"/>
            <a:ext cx="3383280" cy="1078992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532120" y="10149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+8.93 BLEU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532120" y="155448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RNNsearch-50 vs RNNencdec-50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sentences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2121408"/>
            <a:ext cx="338328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32120" y="21762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26.75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532120" y="2715768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single-model BLEU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(RNNsearch-50)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3282696"/>
            <a:ext cx="3383280" cy="1078992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3212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&gt;Moses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532120" y="3877056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phrase-based SMT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(Moses = 33.3 with extras)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4507992"/>
            <a:ext cx="859536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" y="4535424"/>
            <a:ext cx="84490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RNNsearch-50 greatly outperforms RNNencdec-50 and performs comparably to phrase-based SMT on this test set — a milestone for pure neural approaches.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 TABLE (WMT 2014 EN-FR)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502920"/>
          </a:xfrm>
          <a:prstGeom prst="rect">
            <a:avLst/>
          </a:prstGeom>
          <a:solidFill>
            <a:srgbClr val="34495E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9669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914400" cy="502920"/>
          </a:xfrm>
          <a:prstGeom prst="rect">
            <a:avLst/>
          </a:prstGeom>
          <a:solidFill>
            <a:srgbClr val="34495E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99669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960120"/>
            <a:ext cx="1097280" cy="502920"/>
          </a:xfrm>
          <a:prstGeom prst="rect">
            <a:avLst/>
          </a:prstGeom>
          <a:solidFill>
            <a:srgbClr val="34495E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99669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 words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097280" cy="502920"/>
          </a:xfrm>
          <a:prstGeom prst="rect">
            <a:avLst/>
          </a:prstGeom>
          <a:solidFill>
            <a:srgbClr val="34495E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99669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 words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960120"/>
            <a:ext cx="3200400" cy="502920"/>
          </a:xfrm>
          <a:prstGeom prst="rect">
            <a:avLst/>
          </a:prstGeom>
          <a:solidFill>
            <a:srgbClr val="34495E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99669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5544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59105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RNNencdec-30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0" y="1554480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6040" y="159105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0" y="155448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159105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155448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159105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0" y="1554480"/>
            <a:ext cx="3200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15000" y="159105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no attention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2148840"/>
            <a:ext cx="228600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18541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RNNencdec-50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0" y="2148840"/>
            <a:ext cx="91440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06040" y="218541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74720" y="2148840"/>
            <a:ext cx="109728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218541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0" y="2148840"/>
            <a:ext cx="109728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218541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21.53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0" y="2148840"/>
            <a:ext cx="320040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0" y="218541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with longer seqs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74320" y="27432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77977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RNNsearch-30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560320" y="2743200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06040" y="277977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474720" y="274320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20440" y="277977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27.56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0" y="274320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17720" y="277977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669280" y="2743200"/>
            <a:ext cx="3200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15000" y="277977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30-word training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74320" y="3337560"/>
            <a:ext cx="22860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337413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RNNsearch-50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560320" y="3337560"/>
            <a:ext cx="9144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06040" y="337413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26.75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474720" y="3337560"/>
            <a:ext cx="109728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20440" y="337413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34.16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572000" y="3337560"/>
            <a:ext cx="109728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17720" y="337413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29.36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669280" y="3337560"/>
            <a:ext cx="32004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15000" y="337413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attention model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74320" y="3931920"/>
            <a:ext cx="22860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396849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RNNsearch-50*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2560320" y="3931920"/>
            <a:ext cx="9144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06040" y="396849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28.45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3474720" y="3931920"/>
            <a:ext cx="109728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520440" y="396849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36.15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572000" y="3931920"/>
            <a:ext cx="109728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17720" y="396849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31.49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5669280" y="3931920"/>
            <a:ext cx="3200400" cy="502920"/>
          </a:xfrm>
          <a:prstGeom prst="rect">
            <a:avLst/>
          </a:prstGeom>
          <a:solidFill>
            <a:srgbClr val="F2D5D2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715000" y="396849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sentences ≤50 (no UNK)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274320" y="4526280"/>
            <a:ext cx="2286000" cy="502920"/>
          </a:xfrm>
          <a:prstGeom prst="rect">
            <a:avLst/>
          </a:prstGeom>
          <a:solidFill>
            <a:srgbClr val="CCCEA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0040" y="456285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(SMT)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2560320" y="4526280"/>
            <a:ext cx="914400" cy="502920"/>
          </a:xfrm>
          <a:prstGeom prst="rect">
            <a:avLst/>
          </a:prstGeom>
          <a:solidFill>
            <a:srgbClr val="CCCEA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606040" y="456285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33.30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3474720" y="4526280"/>
            <a:ext cx="1097280" cy="502920"/>
          </a:xfrm>
          <a:prstGeom prst="rect">
            <a:avLst/>
          </a:prstGeom>
          <a:solidFill>
            <a:srgbClr val="CCCEA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20440" y="456285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4572000" y="4526280"/>
            <a:ext cx="1097280" cy="502920"/>
          </a:xfrm>
          <a:prstGeom prst="rect">
            <a:avLst/>
          </a:prstGeom>
          <a:solidFill>
            <a:srgbClr val="CCCEA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17720" y="456285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5669280" y="4526280"/>
            <a:ext cx="3200400" cy="502920"/>
          </a:xfrm>
          <a:prstGeom prst="rect">
            <a:avLst/>
          </a:prstGeom>
          <a:solidFill>
            <a:srgbClr val="CCCEA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715000" y="456285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Phrase-based with extra features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47472" y="4956048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RNNsearch-50* achieves 28.45 BLEU — competitive with phrase-based Moses on newstest2014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ANALYSIS: SOFT ALIGNMENT VISUALIZATION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 Heatmap (EN → FR)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9344" y="137160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58568" y="137160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7792" y="137160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57016" y="137160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13716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181051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09344" y="1810512"/>
            <a:ext cx="649224" cy="438912"/>
          </a:xfrm>
          <a:prstGeom prst="rect">
            <a:avLst/>
          </a:prstGeom>
          <a:solidFill>
            <a:srgbClr val="E7CCC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9344" y="1810512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58568" y="181051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07792" y="1810512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07792" y="1810512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57016" y="181051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0" y="181051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181051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2249424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09344" y="2249424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58568" y="2249424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58568" y="2249424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249424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57016" y="2249424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2249424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" y="224942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" y="2688336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09344" y="2688336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09344" y="2688336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58568" y="2688336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07792" y="2688336"/>
            <a:ext cx="649224" cy="438912"/>
          </a:xfrm>
          <a:prstGeom prst="rect">
            <a:avLst/>
          </a:prstGeom>
          <a:solidFill>
            <a:srgbClr val="E7CCC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07792" y="2688336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57016" y="2688336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06240" y="2688336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2608" y="268833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européenne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0120" y="3127248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09344" y="3127248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258568" y="3127248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907792" y="3127248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557016" y="3127248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57016" y="3127248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06240" y="3127248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" y="312724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0120" y="356616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609344" y="356616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58568" y="356616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907792" y="356616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557016" y="3566160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06240" y="3566160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06240" y="3566160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92608" y="356616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60120" y="400507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09344" y="400507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58568" y="400507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907792" y="400507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557016" y="4005072"/>
            <a:ext cx="649224" cy="438912"/>
          </a:xfrm>
          <a:prstGeom prst="rect">
            <a:avLst/>
          </a:prstGeom>
          <a:solidFill>
            <a:srgbClr val="F8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06240" y="4005072"/>
            <a:ext cx="649224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206240" y="4005072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92608" y="40050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609344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258568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07792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557016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206240" y="1261872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486400" y="91440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486400" y="914400"/>
            <a:ext cx="3429000" cy="41148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504688" y="932688"/>
            <a:ext cx="33924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577840" y="1417320"/>
            <a:ext cx="3246120" cy="713232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632704" y="1453896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order: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632704" y="1746504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English-French shows mostly diagonal alignment — similar word order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577840" y="2212848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632704" y="2249424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matching: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632704" y="2542032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αᵢⱼ &gt; 0 for ALL pairs: the model can spread attention across related words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577840" y="3008376"/>
            <a:ext cx="3246120" cy="713232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632704" y="304495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Adjective-noun swap: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632704" y="333756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'European Economic' maps to 'économique européenne' — attention reorders naturally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577840" y="3803904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632704" y="384048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632704" y="4133088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matrix is a byproduct of translation; no extra annotation needed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ON LONG SENTENCES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05156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No-attention models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97880" y="13533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drops sharply for sentences &gt;30 words — the fixed-length vector cannot hold all information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06440" y="205740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210312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models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240487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RNNsearch maintains high BLEU even for very long sentences — attention accesses the full source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310896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315468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345643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documents contain long, complex sentences — robustness is critical for practical NMT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" y="4389120"/>
            <a:ext cx="8449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solves the long-sentence problem: BLEU for 70+ word sentences is ~10× higher with attention than without.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NLP &amp; AI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22960" cy="4937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06070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et al. introduce attention to NMT at ICLR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22960" cy="493776"/>
          </a:xfrm>
          <a:prstGeom prst="rect">
            <a:avLst/>
          </a:prstGeom>
          <a:solidFill>
            <a:srgbClr val="C0635A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6276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et al. simplify attention (global/local) at EMNLP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822960" cy="493776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1945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used in image captioning, summarization, QA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822960" cy="493776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88336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27614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'Attention Is All You Need' — the Transformer replaces RNNs entirely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255264"/>
            <a:ext cx="822960" cy="493776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25526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32841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GPT-1: large-scale Transformer pre-training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822960" cy="493776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82219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389534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GPT-2, XLNet, RoBERTa: scaling Transformer LMs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389120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389120"/>
            <a:ext cx="8229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389120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" y="44622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GPT-3, T5, PaLM, LLaMA: Transformers dominate all AI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983480"/>
            <a:ext cx="859536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5001768"/>
            <a:ext cx="8449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et al. (2015): the paper that made modern AI possible by introducing the attention mechanism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BAHDANAU vs LUONG vs TRANSFORMER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438912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" y="93268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2148840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22576" y="932688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(2015)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914400"/>
            <a:ext cx="2148840" cy="438912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71416" y="932688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(2015)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214884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0256" y="932688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(2017)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201168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" y="140817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22576" y="140817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(GRU)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1371600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71416" y="140817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(LSTM)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1371600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0256" y="140817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" y="18836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Type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1847088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22576" y="188366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/ Additive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1847088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1416" y="188366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Local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847088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0256" y="188366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scaled dot-product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322576"/>
            <a:ext cx="201168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" y="235915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Function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2322576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22576" y="235915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vₐᵀ tanh(Wₐs+Uₐh)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34840" y="2322576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71416" y="235915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/ general / concat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2322576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20256" y="235915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QKᵀ/√dₖ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79806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" y="283464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2798064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22576" y="2834640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34840" y="2798064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71416" y="2834640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stacked LSTM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83680" y="2798064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20256" y="2834640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self-attention blocks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273552"/>
            <a:ext cx="201168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0896" y="33101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3273552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22576" y="3310128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RNN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434840" y="3273552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471416" y="3310128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LSTM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83680" y="3273552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20256" y="3310128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blocks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4904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0896" y="378561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3749040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22576" y="378561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per step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34840" y="3749040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471416" y="378561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per step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583680" y="3749040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20256" y="378561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context vector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24528"/>
            <a:ext cx="201168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10896" y="426110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BLEU (EN-FR)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286000" y="4224528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22576" y="426110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28.45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434840" y="4224528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71416" y="426110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 (EN-DE)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583680" y="4224528"/>
            <a:ext cx="2148840" cy="420624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20256" y="4261104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 (EN-FR)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70001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10896" y="473659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286000" y="4700016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322576" y="473659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attention in NMT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434840" y="4700016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471416" y="473659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 + input feeding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583680" y="4700016"/>
            <a:ext cx="2148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20256" y="4736592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replaces RNNs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94360" cy="12618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paper to introduce soft attention for NMT — allows the decoder to dynamically focus on relevant parts of the source sentence at each step.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594360" cy="1261872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6791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77063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the BiRNN encoder that captures both past and future context for each source word — standard in all subsequent RNN-based NMT models.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6674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666744"/>
            <a:ext cx="594360" cy="1261872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0325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37581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4123944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model is trained jointly with the encoder-decoder — no separate alignment step required. The model learns to align AND translate simultaneously.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594360" cy="1261872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4688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Sentence Robustness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14173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empirically that attention solves the fixed-length bottleneck, maintaining translation quality even for sentences of 70+ words.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31343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313432"/>
            <a:ext cx="594360" cy="1261872"/>
          </a:xfrm>
          <a:prstGeom prst="rect">
            <a:avLst/>
          </a:prstGeom>
          <a:solidFill>
            <a:srgbClr val="C0635A"/>
          </a:solidFill>
          <a:ln w="12700">
            <a:solidFill>
              <a:srgbClr val="C06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6791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Alignment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77063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αᵢⱼ form a soft alignment matrix that can be visualized — providing interpretable evidence of what the model has learned.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6674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666744"/>
            <a:ext cx="594360" cy="12618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40325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4688" y="37581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Transformers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4123944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additive attention mechanism here directly inspired multi-head attention in the Transformer, which powers BERT, GPT, and all modern large language models.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49040" cy="713232"/>
          </a:xfrm>
          <a:prstGeom prst="rect">
            <a:avLst/>
          </a:prstGeom>
          <a:solidFill>
            <a:srgbClr val="F2D5D2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Attention: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9222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computation scales quadratically with sequence length — slow for very long sequences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Decoding: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58775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decoder must generate tokens one at a time — cannot parallelize training or inference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3749040" cy="713232"/>
          </a:xfrm>
          <a:prstGeom prst="rect">
            <a:avLst/>
          </a:prstGeom>
          <a:solidFill>
            <a:srgbClr val="F2D5D2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9067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Recurrence: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3832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relies on sequential hidden state updates in the encoder and decoder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849624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886200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 Handling: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17880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words are mapped to [UNK] — rare words are poorly represented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932688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INSPIRED BY THIS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1463040"/>
            <a:ext cx="3749040" cy="713232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47488" y="149961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179222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to multiple subspaces simultaneously → Transformer (Vaswani 2017)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2258568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47488" y="229514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258775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attention within the source sequence itself → removes RNN dependency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83480" y="3054096"/>
            <a:ext cx="3749040" cy="713232"/>
          </a:xfrm>
          <a:prstGeom prst="rect">
            <a:avLst/>
          </a:prstGeom>
          <a:solidFill>
            <a:srgbClr val="E7E8D1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47488" y="309067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mechanism: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7488" y="33832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model to directly copy rare words from input → handles UNK words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3849624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47488" y="3886200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mechanisms: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7488" y="417880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source words have been translated to reduce repetitions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8449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the model to learn to align and translate jointly."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8595360" cy="457200"/>
          </a:xfrm>
          <a:prstGeom prst="rect">
            <a:avLst/>
          </a:prstGeom>
          <a:solidFill>
            <a:srgbClr val="2E3D50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212140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attention mechanism: each decoder step computes a unique context vector as a weighted sum of encoder hidden states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8595360" cy="457200"/>
          </a:xfrm>
          <a:prstGeom prst="rect">
            <a:avLst/>
          </a:prstGeom>
          <a:solidFill>
            <a:srgbClr val="39495E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" y="265176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5603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the bidirectional RNN encoder to capture full context around every source 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8595360" cy="457200"/>
          </a:xfrm>
          <a:prstGeom prst="rect">
            <a:avLst/>
          </a:prstGeom>
          <a:solidFill>
            <a:srgbClr val="2E3D50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" y="318211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9067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the fixed-length bottleneck that crippled traditional NMT on long sentences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8595360" cy="457200"/>
          </a:xfrm>
          <a:prstGeom prst="rect">
            <a:avLst/>
          </a:prstGeom>
          <a:solidFill>
            <a:srgbClr val="39495E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" y="3712464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62102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28.45 BLEU on WMT'14 EN-FR — competitive with phrase-based systems at the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87368"/>
            <a:ext cx="8595360" cy="457200"/>
          </a:xfrm>
          <a:prstGeom prst="rect">
            <a:avLst/>
          </a:prstGeom>
          <a:solidFill>
            <a:srgbClr val="2E3D50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" y="4242816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415137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alignment interpretable via attention weight visualization — a scientific and practical advance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39495E"/>
          </a:solidFill>
          <a:ln w="12700">
            <a:solidFill>
              <a:srgbClr val="4A5F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2336" y="477316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68172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enabled the Transformer: multi-head attention generalizes the additive score function presented here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5166360"/>
            <a:ext cx="8595360" cy="438912"/>
          </a:xfrm>
          <a:prstGeom prst="rect">
            <a:avLst/>
          </a:prstGeom>
          <a:solidFill>
            <a:srgbClr val="1E2D3E"/>
          </a:solidFill>
          <a:ln w="12700">
            <a:solidFill>
              <a:srgbClr val="1E2D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5184648"/>
            <a:ext cx="8449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Bahdanau, K. Cho, Y. Bengio. Neural Machine Translation by Jointly Learning to Align and Translate. ICLR 2015. arXiv:1409.0473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37160" cy="2743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06840" y="1097280"/>
            <a:ext cx="137160" cy="2743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640080" cy="6400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Shazeer, Parmar, Uszkoreit, Jones, Gomez, Kaiser, Polosukhin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Brain &amp; Google Research   |   NeurIPS 2017   |   arXiv:1706.03762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– Deep Learning for NLP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24514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01498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Limitations of RNNs &amp; CNNs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7556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81051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— Background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551176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Overview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34670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40156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&amp; Multi-Head Attention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142232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19709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&amp; Feed-Forward Layers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94960" y="9601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101498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Self-Attention? (Complexity Analysis)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1801368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17556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181051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&amp; Regularization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2596896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2551176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260604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Machine Translation &amp; Parsing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37760" y="3392424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94960" y="334670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0680" y="340156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&amp; Model Variations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4187952"/>
            <a:ext cx="411480" cy="411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394960" y="4142232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40680" y="419709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Visualizations &amp; Interpretability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92762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SEQUENTIAL COMPUTATION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Sequential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 depends on hₜ₋₁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98424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parallelize within a training example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5054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constraints limit batch sizes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0266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sequential operations — bottleneck for long sequences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478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vanishing over long paths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93268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Parallel — But Limited Range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99616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93792" y="14630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computation: O(1) per layer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0" y="2020824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198424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O(n/k) layers needed for global context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37760" y="2542032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25054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ConvS2S: linear growth in path length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306324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92" y="30266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ByteNet: logarithmic (dilated convs)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37760" y="3584448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35478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capture very long-range deps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Attention mechanisms can model long-range dependencies without recurrence or convolution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60416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ATTENTION MECHANISMS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463040"/>
            <a:ext cx="109728" cy="6400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92024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et al. – Soft attention in encoder-decoder NMT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(align &amp; translate jointly)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2024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241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109728" cy="640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210312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192024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221284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et al. – Global &amp; local attention for NMT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(simplified, multiple alignment functions)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0241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109728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192024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21284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for reading comprehension &amp; NLI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(Cheng et al., Parikh et al.)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0241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1463040"/>
            <a:ext cx="109728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0" y="2103120"/>
            <a:ext cx="192024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21284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attention is ALL you need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recurrence, no convolution!)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15968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(2017) is the first transduction model relying ENTIRELY on self-attention — no RNNs, no convolutions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30340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91840" cy="438912"/>
          </a:xfrm>
          <a:prstGeom prst="rect">
            <a:avLst/>
          </a:prstGeom>
          <a:solidFill>
            <a:srgbClr val="FFE082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53896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Forward (position-wise)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291840" cy="438912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975104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3291840" cy="438912"/>
          </a:xfrm>
          <a:prstGeom prst="rect">
            <a:avLst/>
          </a:prstGeom>
          <a:solidFill>
            <a:srgbClr val="FFCCB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3291840" cy="438912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17520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329184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538728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 + Positional Enc.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N=6 layers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9144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0" y="914400"/>
            <a:ext cx="365760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0" y="93268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94960" y="1417320"/>
            <a:ext cx="3291840" cy="438912"/>
          </a:xfrm>
          <a:prstGeom prst="rect">
            <a:avLst/>
          </a:prstGeom>
          <a:solidFill>
            <a:srgbClr val="FFE082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13248" y="1453896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Forward (position-wise)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1938528"/>
            <a:ext cx="3291840" cy="438912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13248" y="1975104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2459736"/>
            <a:ext cx="3291840" cy="438912"/>
          </a:xfrm>
          <a:prstGeom prst="rect">
            <a:avLst/>
          </a:prstGeom>
          <a:solidFill>
            <a:srgbClr val="E1BEE7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13248" y="249631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(enc-dec)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2980944"/>
            <a:ext cx="3291840" cy="438912"/>
          </a:xfrm>
          <a:prstGeom prst="rect">
            <a:avLst/>
          </a:prstGeom>
          <a:solidFill>
            <a:srgbClr val="FFCCB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13248" y="3017520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 + Masked Self-Attn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3502152"/>
            <a:ext cx="329184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13248" y="3538728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Embedding + Positional Enc.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N=6 layers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77640" y="2194560"/>
            <a:ext cx="118872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77640" y="221284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Values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866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04288" y="987552"/>
            <a:ext cx="4535424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 K, V) = softmax(QKᵀ / √dₖ) · V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457200" cy="10972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22199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dot products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547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Kᵀ  for all query-key pairs — measures compatibility / similarity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45720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21488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22199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√dₖ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3547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by square root of key dimension to prevent softmax saturation in high dimensions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5720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3832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345643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softmax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3547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scores to probability distribution — weights sum to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45720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3832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12080" y="345643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values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794760"/>
            <a:ext cx="3547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output = weighted combination of value vectors 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383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727448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scale? For large dₖ, dot products grow large → softmax gradients ≈ 0 → training stalls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6241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DOT-PRODUCT vs ADDITIVE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Dot-Product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Feed-forward NN (1 hidden layer)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QKᵀ / √dₖ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in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faster (matrix multiply)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dₖ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dₖ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(no saturation)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with 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654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4183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MultiHead(Q,K,V) = Concat(head₁,…,headₕ) · Wᴼ   where   headᵢ = Attention(QWᵢQ, KWᵢK, VWᵢV)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393192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755648"/>
            <a:ext cx="38953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HEADS?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82880" cy="1828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20370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 averages attention weights — loses information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182880" cy="1828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70662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 attend to different representation subspaces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246120"/>
            <a:ext cx="182880" cy="1828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20954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can learn different linguistic patterns (syntax, co-reference, etc.)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182880" cy="1828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71246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h=8 heads in the paper; dₖ = dᵥ = dmodel/h = 64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73736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411480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1755648"/>
            <a:ext cx="4078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176272"/>
          <a:ext cx="402336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(heads)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dₖ = dᵥ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445312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 cost ≈ single attention head with full dimensionality (reduced dₖ per head compensates)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94613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USES OF ATTENTION IN THE TRANSFORMER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6400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Self-Attention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all come from the previous encoder layer output.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can attend to every other position in the input sequence.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intra-sentence dependencies.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640080"/>
            <a:ext cx="640080" cy="6400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196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Decoder Self-Attention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from previous decoder layer output.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prevents positions from attending to future positions (illegal connections set to −∞).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auto-regressive property during generation.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91440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23760" y="64008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Cross-Attention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from decoder; Keys &amp; Values from encoder output.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every decoder position to attend over all encoder positions.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source and target sequences.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945069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FEED-FORWARD NETWORKS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4864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47088" y="987552"/>
            <a:ext cx="54498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FFN(x) = max(0, xW₁ + b₁) W₂ + b₂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5448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1463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(dmodel=512)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2514600"/>
            <a:ext cx="7315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0" cy="182880"/>
          </a:xfrm>
          <a:prstGeom prst="rect">
            <a:avLst/>
          </a:prstGeom>
          <a:solidFill>
            <a:srgbClr val="90A4AE"/>
          </a:solidFill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1874520"/>
            <a:ext cx="1554480" cy="12801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901952"/>
            <a:ext cx="1463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(512→2048)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2514600"/>
            <a:ext cx="7315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0" cy="182880"/>
          </a:xfrm>
          <a:prstGeom prst="rect">
            <a:avLst/>
          </a:prstGeom>
          <a:solidFill>
            <a:srgbClr val="90A4AE"/>
          </a:solidFill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0" y="1874520"/>
            <a:ext cx="1554480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1901952"/>
            <a:ext cx="1463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max(0,·)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2514600"/>
            <a:ext cx="7315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0" cy="182880"/>
          </a:xfrm>
          <a:prstGeom prst="rect">
            <a:avLst/>
          </a:prstGeom>
          <a:solidFill>
            <a:srgbClr val="90A4AE"/>
          </a:solidFill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1874520"/>
            <a:ext cx="1554480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89320" y="1901952"/>
            <a:ext cx="1463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(2048→512)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2514600"/>
            <a:ext cx="7315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2423160"/>
            <a:ext cx="0" cy="182880"/>
          </a:xfrm>
          <a:prstGeom prst="rect">
            <a:avLst/>
          </a:prstGeom>
          <a:solidFill>
            <a:srgbClr val="90A4AE"/>
          </a:solidFill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0" y="1874520"/>
            <a:ext cx="155448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1901952"/>
            <a:ext cx="1463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(dmodel=512)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" y="3355848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767328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7307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and independently to each position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4041648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005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parameters per layer — not shared across layers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315968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27939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dimension dff = 2048 (4× expansion factor)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590288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5537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two 1×1 convolutions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3375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3355848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ARCHITECTURE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3767328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37307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non-linear transformation after attention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92040" y="4041648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4005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= linear interaction across positions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92040" y="4315968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427939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= non-linear processing per position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92040" y="4590288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45537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global context + local feature transform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64476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Transformer has no recurrence/convolution → No sense of word order! Solution: Add position information directly to embeddings.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8503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 2i)  = sin(pos / 10000^(2i/dmodel))
PE(pos, 2i+1) = cos(pos / 10000^(2i/dmodel))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73152" cy="9601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encoding per position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0815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sinusoids at each position produce unique signatures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697480"/>
            <a:ext cx="73152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Wavelengths form geometric progression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0815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2π to 10000·2π — each dimension spans a different frequency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relative position representation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1788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PE(pos+k) can be expressed as linear function of PE(pos)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7947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794760"/>
            <a:ext cx="73152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vs. fixed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1788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tested both; near-identical results. Sinusoidal may generalize better to longer sequences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603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&amp; LAYER NORMALIZATION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04288" y="434340"/>
            <a:ext cx="4535424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LayerNorm(x + Sublayer(x))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1463040" cy="9144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9888" y="1856232"/>
            <a:ext cx="1426464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828800"/>
            <a:ext cx="1463040" cy="9144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27248" y="1856232"/>
            <a:ext cx="1426464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Sublayer(x)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 or FFN)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146304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856232"/>
            <a:ext cx="1426464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Sublayer(x)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(residual sum)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14630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1856232"/>
            <a:ext cx="1426464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LayerNorm(·)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0" y="1828800"/>
            <a:ext cx="0" cy="0"/>
          </a:xfrm>
          <a:prstGeom prst="line">
            <a:avLst/>
          </a:prstGeom>
          <a:noFill/>
          <a:ln w="254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1463040"/>
            <a:ext cx="5623560" cy="0"/>
          </a:xfrm>
          <a:prstGeom prst="line">
            <a:avLst/>
          </a:prstGeom>
          <a:noFill/>
          <a:ln w="25400">
            <a:solidFill>
              <a:srgbClr val="3949A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463040"/>
            <a:ext cx="0" cy="365760"/>
          </a:xfrm>
          <a:prstGeom prst="line">
            <a:avLst/>
          </a:prstGeom>
          <a:noFill/>
          <a:ln w="254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(skip connection)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2944368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2336" y="3401568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336499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training of very deep networks (6+ layers)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" y="3749040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" y="371246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directly through skip path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" y="409651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" y="40599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He et al. (2016) for ResNets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" y="4443984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5216" y="44074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sub-layers produce same dimension dmodel=512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2944368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NORMALIZATION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82896" y="3401568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65776" y="336499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over feature dimensions (not batch)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82896" y="3749040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65776" y="371246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training for variable-length sequences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82896" y="409651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65776" y="40599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each sub-layer (post-norm)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82896" y="4443984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65776" y="44074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Ba et al. (2016)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33268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STACK —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84048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next layer / decoder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384048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53896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 + FFN(x))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840480" cy="384048"/>
          </a:xfrm>
          <a:prstGeom prst="rect">
            <a:avLst/>
          </a:prstGeom>
          <a:solidFill>
            <a:srgbClr val="FFE082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911096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FFN  [d=512 → 2048 → 512]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3840480" cy="384048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368296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 + MHA(x))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840480" cy="384048"/>
          </a:xfrm>
          <a:prstGeom prst="rect">
            <a:avLst/>
          </a:prstGeom>
          <a:solidFill>
            <a:srgbClr val="FFCCB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825496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 [h=8 heads, dₖ=64]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3840480" cy="384048"/>
          </a:xfrm>
          <a:prstGeom prst="rect">
            <a:avLst/>
          </a:prstGeom>
          <a:solidFill>
            <a:srgbClr val="C8E6C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3282696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 + Positional Encoding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850392"/>
            <a:ext cx="320040" cy="19202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6200000">
            <a:off x="365760" y="850392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896112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896112"/>
            <a:ext cx="429768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914400"/>
            <a:ext cx="4261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SPECIFICATIONS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325880"/>
          <a:ext cx="4206240" cy="34564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layers 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dimension (dmodel)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heads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Key/Value dim (dₖ = dᵥ)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 inner dim (dff)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(same as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3246120"/>
            <a:ext cx="0" cy="0"/>
          </a:xfrm>
          <a:prstGeom prst="line">
            <a:avLst/>
          </a:prstGeom>
          <a:noFill/>
          <a:ln w="254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" y="2331720"/>
            <a:ext cx="0" cy="0"/>
          </a:xfrm>
          <a:prstGeom prst="line">
            <a:avLst/>
          </a:prstGeom>
          <a:noFill/>
          <a:ln w="254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15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STACK —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solidFill>
            <a:srgbClr val="3949AB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Softmax → Output Probabilities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840480" cy="365760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 + FFN(x))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3840480" cy="365760"/>
          </a:xfrm>
          <a:prstGeom prst="rect">
            <a:avLst/>
          </a:prstGeom>
          <a:solidFill>
            <a:srgbClr val="FFE082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FFN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3840480" cy="365760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 + CrossAttn(x))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3840480" cy="365760"/>
          </a:xfrm>
          <a:prstGeom prst="rect">
            <a:avLst/>
          </a:prstGeom>
          <a:solidFill>
            <a:srgbClr val="E1BEE7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62432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Q from decoder, K,V from encoder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3840480" cy="365760"/>
          </a:xfrm>
          <a:prstGeom prst="rect">
            <a:avLst/>
          </a:prstGeom>
          <a:solidFill>
            <a:srgbClr val="B3E5F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03580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 + MaskedMHA(x))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3840480" cy="365760"/>
          </a:xfrm>
          <a:prstGeom prst="rect">
            <a:avLst/>
          </a:prstGeom>
          <a:solidFill>
            <a:srgbClr val="FFCCBC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44728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Self-Attention (causal)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3840480" cy="365760"/>
          </a:xfrm>
          <a:prstGeom prst="rect">
            <a:avLst/>
          </a:prstGeom>
          <a:solidFill>
            <a:srgbClr val="C8E6C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858768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Embedding + Positional Encoding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896112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896112"/>
            <a:ext cx="429768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90288" y="914400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325880"/>
            <a:ext cx="4206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mask? Decoder must not look into the future when generating position i.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set future positions to −∞ before softmax → zero attention weight.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predictions for position i depend only on outputs at positions &lt; 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3090672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090672"/>
            <a:ext cx="429768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90288" y="3108960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BRIDGE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511296"/>
            <a:ext cx="4206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link between encoder &amp; decoder: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Queries (Q) ← decoder's previous layer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Keys (K), Values (V) ← encoder's final output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decoder position sees the full source context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38511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SELF-ATTENTION? COMPLEXITY ANALYSIS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377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Complexity/Layer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Path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949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O(n²·d)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(RNN)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O(n·d²)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O(k·n·d²)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O(log_k(n))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Self-Attn (restricted 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O(r·n·d)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O(n/r)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sequence length   |   d = representation dimension   |   k = kernel size   |   r = neighborhood size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37490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3749040"/>
            <a:ext cx="274320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Maximum Path Length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20040" y="42245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 learned equally as easily as short ones — critical for NLP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37490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27832" y="3749040"/>
            <a:ext cx="27432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73552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Sequential Operations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273552" y="42245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parallelizable — massive speedup on modern GPU/TPU hardware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1344" y="37490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81344" y="3749040"/>
            <a:ext cx="2743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3"/>
          <p:cNvSpPr/>
          <p:nvPr/>
        </p:nvSpPr>
        <p:spPr>
          <a:xfrm>
            <a:off x="6227064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27064" y="42245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provide insight into model decisions — visualization is straightforward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23855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5389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2014 English-German: 4.5M sentence pairs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482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encoding (BPE): 37K shared vocabulary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919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4261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2014 English-French: 36M sentences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369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vocabulary: 32K tokens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67912"/>
            <a:ext cx="137160" cy="1371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8313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Batches: ~25K source + 25K target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932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149047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145389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NVIDIA P100 GPUs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0848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0" y="20482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0.4 sec/step, 100K steps (12 hrs)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67919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264261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model: 1.0 sec/step, 300K steps (3.5 days)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27355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2369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~3.3×10¹⁸ FLOPs (base), 2.3×10¹⁹ (big)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86791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38313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compute than competing models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932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1490472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0" y="145389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(β₁=0.9, β₂=0.98, ε=1e-9)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084832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20482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learning rate with warmup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679192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92240" y="264261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 = 4000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73552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0" y="32369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lrate = d_model^(-0.5) · min(step^(-0.5), step·warm^(-1.5))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867912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38313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linearly, then decays ∝ 1/√step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6737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SCHEDULE &amp; REGULARIZATION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960120"/>
            <a:ext cx="32004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79008" y="978408"/>
            <a:ext cx="31638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06440" y="1444752"/>
            <a:ext cx="310896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5216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Dropout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5216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output of each sub-layer before Add &amp; Norm. Also on embedding sums.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Pdrop = 0.1 (base), 0.3 (big)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2724912"/>
            <a:ext cx="310896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52160" y="27614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52160" y="31089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εls = 0.1 during training.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Hurts perplexity but improves BLEU. Model learns uncertainty.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27024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linearly increases LR for first 4000 steps, then decreases proportional to inverse square root of step number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19612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MACHINE TRANSLATION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14400"/>
            <a:ext cx="3108960" cy="1207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52160" y="9509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 BLEU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52160" y="1508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EN-DE (big model)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7830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over best ensemble!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state-of-the-art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2240280"/>
            <a:ext cx="3108960" cy="1207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0" y="227685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 BLEU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852160" y="2834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EN-FR (big model)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1089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single-model SOTA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¼ the training cost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566160"/>
            <a:ext cx="3108960" cy="1207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0" y="360273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days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852160" y="4160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(big)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44348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months for competing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systems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4197096"/>
            <a:ext cx="8503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comparison: ConvS2S ensemble = 7.7×10¹⁹ FLOPs vs Transformer big = 2.3×10¹⁹ FLOPs — 3× more efficient!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84863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7671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— MODEL VARIATIONS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32688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ATTENTION HEADS (h)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44168"/>
          <a:ext cx="402336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dₖ=dᵥ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BLEU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(single)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 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949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✓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 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794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Too few or too many heads hurt. h=8 is the sweet spot. Single head is 0.9 BLEU worse.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73168" y="932688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&amp; DROPOUT EFFECTS</a:t>
            </a:r>
            <a:endParaRPr lang="en-US" sz="12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344168"/>
          <a:ext cx="4023360" cy="2377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800600" y="3794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Bigger models are consistently better. 6 layers with dmodel=512 is the effective base. Dropout critical to prevent overfitting.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304690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ENGLISH CONSTITUENCY PARSING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Transformer generalize beyond translation? Testing on a structurally constrained task with strong output constraints.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43200" cy="3657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48256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WSJ portion of Penn Treebank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WSJ only: ~40K training sentences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Semi-supervised: +17M sentences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4-layer Transformer, dmodel=1024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Vocab: 16K (WSJ) / 32K (semi-sup)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Beam size: 21, α=0.3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task-specific tuning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627632"/>
          <a:ext cx="5623560" cy="32644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Vinyals et al. (2014)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disc.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Petrov et al. (2006)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disc.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(2013)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disc.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Dyer et al. (2016)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disc.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(4L)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WSJ disc.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(2013)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Vinyals et al. (2014)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(4L)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Dyer et al. (2016)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 (best)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4242816"/>
            <a:ext cx="8503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outperforms BerkeleyParser on WSJ-only and ALL except RNN Grammar in semi-supervised setting. No task-specific architecture needed!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42115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 heads learn specialized linguistic functions — providing interpretability beyond most neural models.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73152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Dependencies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track subject-verb agreement, dependency arcs, and phrase structure relations across the sentence.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73152" cy="12801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Relations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word 'making', heads successfully attend to distant 'difficult' — completing the phrase 'making…more difficult'.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73152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Coreference Resolution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" y="347472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'its' strongly attends to 'Law' (its antecedent) — anaphora resolution emerges naturally.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73152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Patterns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heads exhibit local windowed attention; others attend broadly. Multi-head captures multiple granularities.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32609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Attention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to use ONLY attention — no recurrence, no convolution. Fundamental paradigm shift in sequence modeling.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960120"/>
            <a:ext cx="274320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105156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QK^T/√dk attention with softmax. Prevents gradient saturation at high dimensions.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960120"/>
            <a:ext cx="27432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105156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h=8 parallel attention heads each learning different representations. Joint attention to multiple subspaces.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Positional Encoding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extrapolation to unseen sequence lengths while providing relative position information via linear transform.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27832" y="288036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9272" y="297180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+ Layer Norm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9272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training of 6-layer architectures with stable gradient flow. Post-norm variant used throughout.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1344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81344" y="2880360"/>
            <a:ext cx="27432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72784" y="297180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11112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Parallelization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sequential operations enables massive GPU utilization. 3.5-day training time for SOTA results.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73239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LEGACY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77240" cy="11430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05156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35608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 — pre-training revolution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777240" cy="11430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0408" y="105156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0408" y="1435608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Pre-Training — autoregressive language modeling at 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77724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58568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235000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/ XLNet / T5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734056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emerge; T5 unifies NLP into text-to-text framework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5856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258568"/>
            <a:ext cx="777240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258568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235000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(175B params)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0408" y="2734056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learner — in-context learning without gradient updates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777240" cy="1143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557016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5568" y="364845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4032504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Transformer for image classification — attention beyond NLP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57016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557016"/>
            <a:ext cx="777240" cy="1143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557016"/>
            <a:ext cx="777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0408" y="364845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0408" y="4032504"/>
            <a:ext cx="3182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RLHF → conversational AI revolution; GPT-4 multimodal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1076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33088"/>
            <a:ext cx="9144000" cy="10058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37160" cy="31272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420624"/>
          </a:xfrm>
          <a:prstGeom prst="rect">
            <a:avLst/>
          </a:prstGeom>
          <a:solidFill>
            <a:srgbClr val="1E2E78"/>
          </a:solidFill>
          <a:ln w="12700">
            <a:solidFill>
              <a:srgbClr val="1E2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is the first sequence transduction model based entirely on attention — dispensing with recurrence and convolution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420624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82496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627632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28.4 BLEU (EN-DE) and 41.8 BLEU (EN-FR) — surpassing all prior SOTA including ensembles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420624"/>
          </a:xfrm>
          <a:prstGeom prst="rect">
            <a:avLst/>
          </a:prstGeom>
          <a:solidFill>
            <a:srgbClr val="1E2E78"/>
          </a:solidFill>
          <a:ln w="12700">
            <a:solidFill>
              <a:srgbClr val="1E2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121408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3.5× faster than the best competing models with significantly less compute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8595360" cy="420624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English constituency parsing with near-SOTA results and minimal task tuning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8595360" cy="420624"/>
          </a:xfrm>
          <a:prstGeom prst="rect">
            <a:avLst/>
          </a:prstGeom>
          <a:solidFill>
            <a:srgbClr val="1E2E78"/>
          </a:solidFill>
          <a:ln w="12700">
            <a:solidFill>
              <a:srgbClr val="1E2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3108960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enables interpretable, linguistically meaningful patterns to emerge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8595360" cy="420624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602736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entire modern NLP/AI landscape: BERT, GPT, T5, Vision Transformers, and beyond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42245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 ·  Vaswani et al., NeurIPS 2017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58402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09728" cy="2971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594360" cy="5943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APPROACHES 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8549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NEURAL MACHINE TRANSLATION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Attention Mechanisms for NMT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290779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Minh-Thang Luong · Hieu Pham · Christopher D. Manning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8549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  ·  EMNLP 2015  ·  arXiv:1508.04025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069080"/>
            <a:ext cx="8549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– Advanced NLP &amp; Neural Machine Translation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798748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96012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02412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NMT Background — encoder-decoder with RNN/LSTM stacks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176479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for Attention — beyond fixed-length vectors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" y="256946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63347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 — attend to ALL source positions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" y="33741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43814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 — attend to a SUBSET of source positions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4178808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315968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24281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alignment (local-m) vs. Predictive alignment (local-p)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30952" y="96012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097280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102412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Input-Feeding Approach — maintaining alignment history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30952" y="176479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1901952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76672" y="182880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 Functions — dot, general, concat, location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30952" y="256946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2706624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2633472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— WMT EN-DE data &amp; training details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30952" y="33741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3511296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76672" y="343814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BLEU improvements &amp; new SOTA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330952" y="4178808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92040" y="4315968"/>
            <a:ext cx="34747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424281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long sentences, learning curves, alignment quality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20756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MACHINE TRANSLATION BACKGROUND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NMT directly models p(y|x) — probability of target sentence y given source sentence 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600200" cy="914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1508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  C  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65960" y="2057400"/>
            <a:ext cx="50292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1600200"/>
            <a:ext cx="16002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627632"/>
            <a:ext cx="1508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(stacked LSTM)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2057400"/>
            <a:ext cx="50292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23360" y="1600200"/>
            <a:ext cx="1600200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1627632"/>
            <a:ext cx="1508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2057400"/>
            <a:ext cx="50292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16002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1627632"/>
            <a:ext cx="1508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(stacked LSTM)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2057400"/>
            <a:ext cx="50292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06640" y="1600200"/>
            <a:ext cx="1600200" cy="914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52360" y="1627632"/>
            <a:ext cx="1508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Y  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859536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8503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p(y|x) = Σⱼ log p(yⱼ | y&lt;ⱼ, s)     where s = encoder hidden state(s)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73152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57530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3575304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neural network trained jointly to maximize translation probability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520440"/>
            <a:ext cx="73152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57530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Phrase Tables: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3575304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store huge phrase tables or explicit alignment models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73152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30682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Footprint: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45920" y="4306824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model; NMT decoders are simpler than SMT counterparts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42519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4251960"/>
            <a:ext cx="73152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430682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LSTM: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4306824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et al. use 4-layer LSTM, 1000 cells, 1000-dim embeddings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945843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FIXED-LENGTH VECTOR BOTTLENECK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61872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1872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57984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57984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54096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54096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50208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50208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42432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2432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38544" y="1051560"/>
            <a:ext cx="77724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38544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1645920"/>
            <a:ext cx="7095744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0" y="1673352"/>
            <a:ext cx="164592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75888" y="1691640"/>
            <a:ext cx="1609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vector 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1920240"/>
            <a:ext cx="137160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0" y="1673352"/>
            <a:ext cx="18288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84848" y="1691640"/>
            <a:ext cx="17922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generates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vector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182112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28" name="Chart 0"/>
          <p:cNvGraphicFramePr/>
          <p:nvPr/>
        </p:nvGraphicFramePr>
        <p:xfrm>
          <a:off x="274320" y="3200400"/>
          <a:ext cx="42976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4846320" y="3182112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46320" y="3182112"/>
            <a:ext cx="402336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64608" y="32004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SOLUTION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974336" y="3639312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157216" y="36027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context vector cₜ for each target word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974336" y="3977640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157216" y="394106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weighted sum of ALL encoder hidden states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974336" y="4315968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157216" y="427939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learned dynamically based on decoder state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974336" y="4654296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157216" y="46177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selectively focuses on relevant source words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0138148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OF ATTENTION MECHANISMS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32688"/>
            <a:ext cx="39867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749040" cy="420624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to ALL source positions simultaneously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alignment vector aₜ (size = source length)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3749040" cy="420624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328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 cₜ = weighted average over ALL encoder states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Bahdanau (2015) but simplified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3749040" cy="420624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representation of source sentence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2336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for very long sequences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40233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4407408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alignment fn: dot product (global)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932688"/>
            <a:ext cx="39867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1508760"/>
            <a:ext cx="3749040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to a SUBSET of source positions per target word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01168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029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aligned position pₜ, then window [pₜ-D, pₜ+D]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514600"/>
            <a:ext cx="3749040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5328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alignment vector aₜ ∈ ℝ^(2D+1)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01752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035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of hard (focused) and soft (differentiable) attention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3520440"/>
            <a:ext cx="3749040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expensive than global for long sequences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402336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4041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variants: local-m (monotonic) and local-p (predictive)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4389120"/>
            <a:ext cx="40233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64608" y="4407408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local-p with general alignment fn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945014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ATTENTION: ARCHITECTURE &amp; MATH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aₜ(s) = align(hₜ, h̄ₛ) = exp(score(hₜ, h̄ₛ)) / Σₛ' exp(score(hₜ, h̄ₛ'))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530352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Σₛ aₜ(s) · h̄ₛ   (weighted sum of encoder states)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859536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h̃ₜ = tanh(Wc · [cₜ ; hₜ])   (attentional hidden state)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8595360" cy="530352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7706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p(yₜ | y&lt;ₜ, x) = softmax(Ws · h̃ₜ)   (prediction)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859536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3447288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(SCORE) FUNCTIONS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20116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85876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" y="415137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score(hₜ, h̄ₛ) = hₜᵀ h̄ₛ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" y="454456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inner 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parameters)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50592" y="3840480"/>
            <a:ext cx="2011680" cy="10972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0" y="385876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415137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score(hₜ, h̄ₛ) = hₜᵀ Wₐ h̄ₛ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454456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matrix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26864" y="3840480"/>
            <a:ext cx="2011680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85876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415137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score(hₜ, h̄ₛ) = vₐᵀ tanh(Wₐ[hₜ ; h̄ₛ])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5152" y="454456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(Bahdanau style)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03136" y="3840480"/>
            <a:ext cx="201168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21424" y="385876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21424" y="415137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 = softmax(Wₐ hₜ)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21424" y="454456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entirely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07255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ATTENTION: MONOTONIC &amp; PREDICTIVE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54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target word, local attention selects an aligned position pₜ, then attends within window [pₜ-D, pₜ+D], D=10 empirically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0233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6184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LOCAL-m: MONOTONIC ALIGNMENT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source and target sequences are roughly monotonically aligned.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3794760" cy="438912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pₜ = t   (simply aligned position = time step)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weights aₜ defined as in global attention but over the window only. Fixed-length vector ∈ ℝ^(2D+1).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global model but with shorter, fixed alignment vector.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600200"/>
            <a:ext cx="402336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6184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LOCAL-p: PREDICTIVE ALIGNMENT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379476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2130552"/>
            <a:ext cx="3703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pₜ = S · sigmoid(vₚᵀ tanh(Wₚhₜ))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697480"/>
            <a:ext cx="379476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715768"/>
            <a:ext cx="37033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aₜ(s) = align(hₜ, h̄ₛ) · exp(-½(s-pₜ)²/σ²)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pₜ ∈ [0,S] — predicted position (real number)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Gaussian penalty favors positions near pₜ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 = D/2 standard deviation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Parameters Wₚ and vₚ learned end-to-end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Differentiable almost everywhere!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32509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INPUT-FEEDING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02336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50976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global &amp; local attention, alignment decisions are made INDEPENDENTLY at each step — no coverage tracking!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MT maintains a coverage set. Attentional NMT should too.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932688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932688"/>
            <a:ext cx="40233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50976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INPUT-FEEDING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attentional vector h̃ₜ with input at next time step.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Effects: (a) Model aware of past alignments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Creates very deep network (horizontal + vertical)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5953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468880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CHANGE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02336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2944368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INPUT-FEEDING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337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at step t:  [embedding(yₜ₋₁)]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per LSTM layer: 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alignment info: NONE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0233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944368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INPUT-FEEDING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at step t:  [embedding(yₜ₋₁) ; h̃ₜ₋₁]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LSTM layer input size: 2n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layers: 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alignment info: ENCODED in h̃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635115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BAHDANAU ET AL. (2015)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Bahdanau et al. (2015)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Luong et al. (2015)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BiRNN: forward + backward concat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Top-layer LSTM states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Single-layer, non-stacking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stacking LSTM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hₜ₋₁ → aₜ → cₜ → hₜ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hₜ → aₜ → cₜ → h̃ₜ → yₜ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functions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dot, general, concat, 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Input-feeding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vectors cₜ used in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Attentional vectors h̃ₜ concatenated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output + maxout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softmax(Wsh̃ₜ)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EN-DE BLEU (newstest14)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 (RNNsearch)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 (best single model)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9723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966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99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WMT'14 English-German: 4.5M sentence pairs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28216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116M English words, 110M German 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20824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984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50K most frequent words per language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13432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words → &lt;unk&gt; token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filtered: max 50 words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966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1768" y="1399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stacking LSTM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728216"/>
            <a:ext cx="109728" cy="10972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01768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hidden units per LSTM cell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020824"/>
            <a:ext cx="109728" cy="10972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01768" y="1984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1000-dimensional word embeddings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313432"/>
            <a:ext cx="109728" cy="10972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01768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uniform init in [−0.1, 0.1]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606040"/>
            <a:ext cx="109728" cy="10972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01768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implementation on Tesla K40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0083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Procedure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447288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SGD, learning rate = 1.0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739896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LR every epoch after epoch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03250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995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10 epochs (12 for dropout models)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325112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" y="4288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size: 128 sentences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61772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" y="4581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prob. 0.2 for LSTM (Zaremba 2015)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30083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46320" y="344728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01768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target words/sec on single GPU K40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373989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01768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 to fully train a model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40325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01768" y="3995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tokenized BLEU (multi-bleu.perl)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432511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01768" y="4288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BLEU for WMT comparison (mteval-v13a)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4617720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01768" y="4581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newstest2013 as dev, newstest2014/15 test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496102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WMT'14 ENGLISH → GERMAN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14400"/>
            <a:ext cx="283464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16752" y="950976"/>
            <a:ext cx="2779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016752" y="1609344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gain from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non-attn → local-p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2240280"/>
            <a:ext cx="28346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16752" y="2276856"/>
            <a:ext cx="2779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016752" y="2935224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from unknown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replacement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3566160"/>
            <a:ext cx="2834640" cy="11887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16752" y="3602736"/>
            <a:ext cx="2779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016752" y="4261104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BLEU: ensemble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(new SOTA)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80115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TABLE — WMT'14 EN-DE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16052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Winning WMT'14 (phrase-based + large LM)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RNNsearch (Jean et al., 2015)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RNNsearch + unk replace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RNNsearch + unk replace + large vocab + ensemble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reverse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reverse + dropout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global attention (location)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global attention (location) + feed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local-p (general) + feed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local-p + feed + unk replace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8 models + unk replace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0614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WMT'15 RESULTS &amp; GERMAN→ENGLISH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601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73168" y="978408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WMT'15 DE→EN RESULTS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389888"/>
          <a:ext cx="40233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Edinburgh (phrase-based)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MILA NMT+5gram rerank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(reverse)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global (location)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 (+2.2)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global (location) +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 (+1.0)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global (dot)+drop+feed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 (+2.7)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unk replace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 (+2.1)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279392"/>
            <a:ext cx="8595360" cy="5212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0040" y="4297680"/>
            <a:ext cx="8503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WMT'15 EN-DE: New SOTA at 25.9 BLEU — outperforming prior best by +1.0 BLEU despite training on WMT'14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45705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ATTENTIONAL ARCHITECTURE COMPARISON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9260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(before unk)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(after unk)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(location)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 (+1.2)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(dot)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 (+1.9)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 (+1.8)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local-m (dot)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local-m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 (+1.8)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local-p (dot)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 (+1.6)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local-p (general) ★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 (+1.9)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005072"/>
            <a:ext cx="4114800" cy="521208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4005072"/>
            <a:ext cx="64008" cy="5212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3192" y="4041648"/>
            <a:ext cx="1600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≪ Content-based: 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39112" y="4041648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function can't learn good alignments — small unk gain confirms this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4005072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4005072"/>
            <a:ext cx="64008" cy="5212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28032" y="4041648"/>
            <a:ext cx="1600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&gt; general for global: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73952" y="4041648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dot product works better than general for global attention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4599432"/>
            <a:ext cx="4114800" cy="521208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4599432"/>
            <a:ext cx="64008" cy="5212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2"/>
          <p:cNvSpPr/>
          <p:nvPr/>
        </p:nvSpPr>
        <p:spPr>
          <a:xfrm>
            <a:off x="393192" y="4636008"/>
            <a:ext cx="1600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&gt; dot for local: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39112" y="4636008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matrix helps local attention with its narrower window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4599432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09160" y="4599432"/>
            <a:ext cx="64008" cy="5212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28032" y="4636008"/>
            <a:ext cx="1600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&gt; Monotonic: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73952" y="4636008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 consistently outperforms local-m — dynamic alignment prediction pays off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530733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HANDLING LONG SENTENCES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960120"/>
            <a:ext cx="310896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79008" y="978408"/>
            <a:ext cx="3072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88736" y="1426464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71616" y="138988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Non-attentional quality degrades sharply for sentences &gt;30 words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88736" y="1911096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71616" y="187452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Attentional models are robust — quality plateau sustained for all lengths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88736" y="2395728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71616" y="2359152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system (ensemble) outperforms ALL other systems in every length bucket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88736" y="2880360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71616" y="284378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improvement: 50-word sentences finally translated accurately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88736" y="3364992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71616" y="3328416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core motivation for dynamic context vectors cₜ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843901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QUALITY — AER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7840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by-product of attention: word alignment. Evaluated on 508 EN-DE Europarl sentences with gold alignments from RWTH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60020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600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303520" y="1600200"/>
            <a:ext cx="35661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21808" y="161848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FINDINGS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31536" y="20665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96128" y="20299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 models achieve lower AER than global models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31536" y="25237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96128" y="24871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comparable to Berkeley Aligner (one-to-many)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31536" y="29809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96128" y="29443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AER ≈ local-m AER — no improvement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31536" y="34381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96128" y="34015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and BLEU are not well correlated (known finding)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31536" y="38953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96128" y="38587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Attentional models learn useful alignment for unk replacement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31536" y="43525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96128" y="43159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vs. diffuse alignment: local &gt;&gt; global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519048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TRANSLATIONS — QUALITATIVE ANALYSIS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78408"/>
            <a:ext cx="8558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Name Translation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731520" cy="27432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389888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Bloom and Miranda Kerr still love each other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731520" cy="27432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1728216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282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Bloom und Miranda Kerr lieben sich noch immer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48256"/>
            <a:ext cx="731520" cy="27432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2066544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(attn)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0665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Bloom und Miranda Kerr lieben einander noch immer.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731520" cy="27432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240487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(no attn)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4048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Bloom und Lucas Miranda lieben einander noch immer.   ← ERROR: Wrong name!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85953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3017520"/>
            <a:ext cx="8558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Complex Double-Negation (DE→EN)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73152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3438144"/>
            <a:ext cx="6949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438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passenger experience is not incompatible with safety and security ...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13048"/>
            <a:ext cx="73152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" y="3831336"/>
            <a:ext cx="6949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383133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passenger experience is not mit Sicherheit und Sicherheit unvereinbar ist ... (mostly correct!)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73152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" y="4224528"/>
            <a:ext cx="6949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nicht vereinbar ist mit Sicherheit ... ← WRONG: 'not compatible', not 'not incompatible'!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658166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Effective Attention Classes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(all positions) and Local (window) — providing a clean taxonomy of attention mechanisms for NMT.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960120"/>
            <a:ext cx="27432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105156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Alignment Functions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9272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of dot, general, concat, and location — showing content-based functions significantly outperform location-based.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96012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96012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105156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10149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Local-p: Predictive Alignment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147218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 to dynamically predict aligned source position using a feedforward sub-network — differentiable, effective.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Input-Feeding Mechanism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attentional vectors as inputs to next timestep — addresses coverage problem while creating deeper network.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27832" y="2880360"/>
            <a:ext cx="274320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9272" y="297180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 BLEU over Non-Attention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19272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attention alone gives 5.0 BLEU improvement over strong non-attentional baseline that already uses dropout + reversing.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1344" y="28803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81344" y="2880360"/>
            <a:ext cx="27432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72784" y="297180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11112" y="29352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SOTA WMT'14 &amp; '15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72784" y="339242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8 models achieves 23.0 BLEU (WMT'14) and 25.9 BLEU (WMT'15) — outperforming NMT+n-gram reranker.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85479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32461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438912"/>
          </a:xfrm>
          <a:prstGeom prst="rect">
            <a:avLst/>
          </a:prstGeom>
          <a:solidFill>
            <a:srgbClr val="00766A"/>
          </a:solidFill>
          <a:ln w="12700">
            <a:solidFill>
              <a:srgbClr val="007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06424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042416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two principled and effective attention classes: global and local, with clear trade-offs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2880" y="1536192"/>
            <a:ext cx="8778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554480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(dot product) and local-p (general) are the recommended attention architectures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2880" y="2048256"/>
            <a:ext cx="8778240" cy="438912"/>
          </a:xfrm>
          <a:prstGeom prst="rect">
            <a:avLst/>
          </a:prstGeom>
          <a:solidFill>
            <a:srgbClr val="00766A"/>
          </a:solidFill>
          <a:ln w="12700">
            <a:solidFill>
              <a:srgbClr val="007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066544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Input-feeding is critical: feeds alignment history forward, enabling coverage-aware decoding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" y="2560320"/>
            <a:ext cx="8778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578608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BLEU gains from attention alone; ensemble achieves new SOTA on WMT'14 and WMT'15 EN-DE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2880" y="3072384"/>
            <a:ext cx="8778240" cy="438912"/>
          </a:xfrm>
          <a:prstGeom prst="rect">
            <a:avLst/>
          </a:prstGeom>
          <a:solidFill>
            <a:srgbClr val="00766A"/>
          </a:solidFill>
          <a:ln w="12700">
            <a:solidFill>
              <a:srgbClr val="007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090672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Attentional models are significantly more robust on long sentences — core problem addressed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82880" y="3584448"/>
            <a:ext cx="8778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666744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602736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quality (AER) competitive with statistical aligners despite being a byproduct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42245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7F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"Effective Approaches to Attention-based NMT"  ·  Luong, Pham &amp; Manning, EMNLP 2015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1529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7035</Words>
  <Application>Microsoft Macintosh PowerPoint</Application>
  <PresentationFormat>On-screen Show (16:9)</PresentationFormat>
  <Paragraphs>1298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Machine Translation by Jointly Learning to Align and Translate</dc:title>
  <dc:subject>PptxGenJS Presentation</dc:subject>
  <dc:creator>PptxGenJS</dc:creator>
  <cp:lastModifiedBy>Asrat Amnie</cp:lastModifiedBy>
  <cp:revision>3</cp:revision>
  <dcterms:created xsi:type="dcterms:W3CDTF">2026-02-20T19:02:09Z</dcterms:created>
  <dcterms:modified xsi:type="dcterms:W3CDTF">2026-02-26T02:53:19Z</dcterms:modified>
</cp:coreProperties>
</file>